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fc1dd19594215" /><Relationship Type="http://schemas.openxmlformats.org/officeDocument/2006/relationships/extended-properties" Target="/docProps/app.xml" Id="R034a0522dbe44720" /><Relationship Type="http://schemas.openxmlformats.org/officeDocument/2006/relationships/officeDocument" Target="/ppt/presentation.xml" Id="Re6a36d2b4f6e4d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4f6fa8a2e94752"/>
  </p:sldMasterIdLst>
  <p:notesMasterIdLst>
    <p:notesMasterId xmlns:r="http://schemas.openxmlformats.org/officeDocument/2006/relationships" r:id="R3e30989709f1444b"/>
  </p:notesMasterIdLst>
  <p:sldIdLst>
    <p:sldId xmlns:r="http://schemas.openxmlformats.org/officeDocument/2006/relationships" id="256" r:id="R3cdfd671fb9548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ec0d878fdd41d7" /><Relationship Type="http://schemas.openxmlformats.org/officeDocument/2006/relationships/slideMaster" Target="/ppt/slideMasters/slideMaster1.xml" Id="Re54f6fa8a2e94752" /><Relationship Type="http://schemas.openxmlformats.org/officeDocument/2006/relationships/notesMaster" Target="/ppt/notesMasters/notesMaster1.xml" Id="R3e30989709f1444b" /><Relationship Type="http://schemas.openxmlformats.org/officeDocument/2006/relationships/presProps" Target="/ppt/presProps.xml" Id="R82c0d06aa71a4310" /><Relationship Type="http://schemas.openxmlformats.org/officeDocument/2006/relationships/tableStyles" Target="/ppt/tableStyles.xml" Id="Raf2c494893fc4b07" /><Relationship Type="http://schemas.openxmlformats.org/officeDocument/2006/relationships/slide" Target="/ppt/slides/slide1.xml" Id="R3cdfd671fb95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31ddfe61c8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3eb21f371a4239" /><Relationship Type="http://schemas.openxmlformats.org/officeDocument/2006/relationships/notesMaster" Target="/ppt/notesMasters/notesMaster1.xml" Id="Rf28ff28857e64c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本页为通用科研技术框架图示例，不包含组织名称、学校名称、校徽或其他品牌元素。</a:t>
            </a:r>
          </a:p>
          <a:p xmlns:a="http://schemas.openxmlformats.org/drawingml/2006/main">
            <a:r>
              <a:t>该布局属于输入、核心机制、成果输出与验证闭环型框架。实际使用时应根据研究内容选择分层架构、流程闭环、问题方法成果、任务协同或对比矩阵等其他结构。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ec9c875784c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66dbab2ba540e7" /><Relationship Type="http://schemas.openxmlformats.org/officeDocument/2006/relationships/slideLayout" Target="/ppt/slideLayouts/slideLayout1.xml" Id="R8667a0a7ee9d44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7a0a7ee9d44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dd250b46e4b88" /><Relationship Type="http://schemas.openxmlformats.org/officeDocument/2006/relationships/notesSlide" Target="/ppt/notesSlides/notesSlide1.xml" Id="R45debb80b13c40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B62B86-FE4F-4BC7-9FE3-AA31D8D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复杂科研任务的技术框架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F0AC8-1CA2-44E3-BC0B-CBAEAEAE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9667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C2"/>
          </a:solidFill>
          <a:ln xmlns:a="http://schemas.openxmlformats.org/drawingml/2006/main" w="0">
            <a:solidFill>
              <a:srgbClr val="087FC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EBEA1-7023-4D22-88EB-C09E8C33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876300"/>
            <a:ext cx="1476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1EF"/>
          </a:solidFill>
          <a:ln xmlns:a="http://schemas.openxmlformats.org/drawingml/2006/main" w="0">
            <a:solidFill>
              <a:srgbClr val="C7E1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09241-C955-4C21-8F3F-2FE7B3A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80B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F2504-CC24-41AE-AE17-B7C0D240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以问题、机制和验证关系组织研究内容，形成可编辑、可追溯的单页框架图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1BC96-497B-4D04-A990-5F78DD9D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87FC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87FC2"/>
                </a:solidFill>
                <a:latin typeface="微软雅黑"/>
                <a:ea typeface="微软雅黑"/>
                <a:cs typeface="微软雅黑"/>
              </a:rPr>
              <a:t>研究输入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D22BF-EEAA-492F-87B9-2FF37AA3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049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5F9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5F90"/>
                </a:solidFill>
                <a:latin typeface="微软雅黑"/>
                <a:ea typeface="微软雅黑"/>
                <a:cs typeface="微软雅黑"/>
              </a:rPr>
              <a:t>核心研究机制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20F38-1B39-48CF-812A-50670F0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049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0A93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0A936"/>
                </a:solidFill>
                <a:latin typeface="微软雅黑"/>
                <a:ea typeface="微软雅黑"/>
                <a:cs typeface="微软雅黑"/>
              </a:rPr>
              <a:t>成果输出与验证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A256E-1A97-42C7-BF52-7ABBBC7F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2238375" cy="695325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3335">
            <a:solidFill>
              <a:srgbClr val="087F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62591-28CB-4E4F-BC6A-62FF999E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00250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多源数据基础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3DF0E-4E73-434A-805D-21069139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4790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rPr>
              <a:t>实验数据、观测记录、文献资料和已有系统输出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56F59-FA82-4C78-8434-B6433360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2238375" cy="695325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3335">
            <a:solidFill>
              <a:srgbClr val="087F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64003-7E67-4675-AD70-423E51FB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28925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理论知识与先验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79136-5B58-44FD-AA97-7FE748D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76575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rPr>
              <a:t>领域理论、规则约束、知识网络和专家判断依据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2CB94-D559-40E9-B3F6-9B968E74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975"/>
            <a:ext cx="2238375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3335">
            <a:solidFill>
              <a:srgbClr val="087F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7B273-7F09-4B6A-BEE9-DBBEBF5F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57600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任务目标与边界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31467-5500-4ACD-AC91-1BFE25C1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052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rPr>
              <a:t>研究对象、关键问题、应用场景、资源条件和评价范围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9CF8C-E32C-4F2D-933D-8DAD2D5B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10100"/>
            <a:ext cx="2238375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3335">
            <a:solidFill>
              <a:srgbClr val="F39A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A864D-66FF-4347-869E-C90D31DE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57725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rPr>
              <a:t>结构化研究输入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7E1DB-E30B-45EE-B67F-BEE81805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0537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统一表示研究对象、变量、关系、条件、来源和可信度</a:t>
            </a:r>
          </a:p>
        </p:txBody>
      </p:sp>
      <p:cxnSp>
        <p:nvCxnSpPr>
          <p:cNvPr id="128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404938" y="2647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C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404938" y="34766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C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404938" y="43910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87FC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A88E1-55A9-49D7-B52D-582892D5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76425"/>
            <a:ext cx="6572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0B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5685A-F594-4307-838E-B06A7BFA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76425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F90"/>
          </a:solidFill>
          <a:ln xmlns:a="http://schemas.openxmlformats.org/drawingml/2006/main" w="0">
            <a:solidFill>
              <a:srgbClr val="175F9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61F72-2E10-449D-895A-AD1FDBD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95475"/>
            <a:ext cx="636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核心机制：研究问题分解、关键方法组织、实验验证闭环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27B00-ADD1-4794-BADB-8A2EC6C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781050" cy="13049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1430">
            <a:solidFill>
              <a:srgbClr val="F39A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6129F-820B-4A94-AC36-2AAD0C3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52700"/>
            <a:ext cx="68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rPr>
              <a:t>离线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rPr>
              <a:t>方法构建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894A2-FC8E-41E0-A690-96A91FDF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371725"/>
            <a:ext cx="962025" cy="60007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F39A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52D88-3944-4895-88E6-58E129A4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241935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39A42"/>
          </a:solidFill>
          <a:ln xmlns:a="http://schemas.openxmlformats.org/drawingml/2006/main" w="4763">
            <a:solidFill>
              <a:srgbClr val="F39A4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5767AF-85F2-4909-9513-F4A46A47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0325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问题定义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与假设提出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9FA8C5-D214-4EA4-BD9B-33A14EE4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71725"/>
            <a:ext cx="962025" cy="60007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F39A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C39B4B-02A0-44B9-9446-F2F1BD83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463" y="241935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39A42"/>
          </a:solidFill>
          <a:ln xmlns:a="http://schemas.openxmlformats.org/drawingml/2006/main" w="4763">
            <a:solidFill>
              <a:srgbClr val="F39A4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6A1D8C-EF62-4358-99B5-E38314FC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00325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研究变量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与关系拆解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D10AC5-90EC-44DE-91BE-EE3BD279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71725"/>
            <a:ext cx="962025" cy="60007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F39A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539732-F11F-46F2-8630-2FF88490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241935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39A42"/>
          </a:solidFill>
          <a:ln xmlns:a="http://schemas.openxmlformats.org/drawingml/2006/main" w="4763">
            <a:solidFill>
              <a:srgbClr val="F39A4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0CBC7C-FFC0-414F-ABBD-7E2F9B46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0325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关键方法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与模块设计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B91F51-4961-4469-BC0D-F43DA32A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962025" cy="60007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F39A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1E94F6-6993-4D06-BA52-6F56058A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41935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39A42"/>
          </a:solidFill>
          <a:ln xmlns:a="http://schemas.openxmlformats.org/drawingml/2006/main" w="4763">
            <a:solidFill>
              <a:srgbClr val="F39A4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B1F87-4C05-40E3-92D2-851B77E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00325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与接口组织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A608E2-1859-4938-AA7F-D9FB003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962025" cy="60007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F39A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36572-5734-4273-B0A1-65C7D2E4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241935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39A42"/>
          </a:solidFill>
          <a:ln xmlns:a="http://schemas.openxmlformats.org/drawingml/2006/main" w="4763">
            <a:solidFill>
              <a:srgbClr val="F39A4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1BD666-177A-4AF4-902C-91723FA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实验方案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与版本管理</a:t>
            </a:r>
          </a:p>
        </p:txBody>
      </p:sp>
      <p:cxnSp>
        <p:nvCxnSpPr>
          <p:cNvPr id="151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781550" y="2671763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39A4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2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838825" y="2671763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39A4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3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896100" y="2671763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39A4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4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953375" y="2671763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39A4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4646E0-CF2B-41D9-B5CA-BC47C11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480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5F9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5F90"/>
                </a:solidFill>
                <a:latin typeface="微软雅黑"/>
                <a:ea typeface="微软雅黑"/>
                <a:cs typeface="微软雅黑"/>
              </a:rPr>
              <a:t>关键技术模块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9344BD-5B03-4C5D-BE1F-2E34F5C6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57525"/>
            <a:ext cx="914400" cy="4667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1430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数据处理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模块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0B84B0-2E83-4F3E-BCE2-B248679C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057525"/>
            <a:ext cx="914400" cy="4667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1430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机理建模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模块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C75F41-87A3-4499-BA12-394093B8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57525"/>
            <a:ext cx="914400" cy="4667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1430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推理预测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模块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E2045A-3E82-4820-8D94-7EFF496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57525"/>
            <a:ext cx="914400" cy="4667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1430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评估解释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模块</a:t>
            </a:r>
          </a:p>
        </p:txBody>
      </p:sp>
      <p:cxnSp>
        <p:nvCxnSpPr>
          <p:cNvPr id="160" name=""/>
          <p:cNvCxnSpPr>
            <a:stCxn xmlns:a="http://schemas.openxmlformats.org/drawingml/2006/main" id="35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6353175" y="2971800"/>
            <a:ext cx="61913" cy="85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2B93E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1" name=""/>
          <p:cNvCxnSpPr>
            <a:stCxn xmlns:a="http://schemas.openxmlformats.org/drawingml/2006/main" id="4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 flipH="1">
            <a:off x="8315325" y="2971800"/>
            <a:ext cx="214313" cy="85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B93E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EF7DFC-79A6-4912-A137-33E00FFC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781050" cy="1714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DEFF7"/>
          </a:solidFill>
          <a:ln xmlns:a="http://schemas.openxmlformats.org/drawingml/2006/main" w="11430">
            <a:solidFill>
              <a:srgbClr val="087FC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0720CF-7B82-4195-8E97-816AA07B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71950"/>
            <a:ext cx="685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5F9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5F90"/>
                </a:solidFill>
                <a:latin typeface="微软雅黑"/>
                <a:ea typeface="微软雅黑"/>
                <a:cs typeface="微软雅黑"/>
              </a:rPr>
              <a:t>在线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5F9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5F90"/>
                </a:solidFill>
                <a:latin typeface="微软雅黑"/>
                <a:ea typeface="微软雅黑"/>
                <a:cs typeface="微软雅黑"/>
              </a:rPr>
              <a:t>实验验证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E68BDF-820B-49A9-9826-F196CB4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00475"/>
            <a:ext cx="962025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B93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B4519B-8051-457B-97E8-63D2557C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384810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2B93E8"/>
          </a:solidFill>
          <a:ln xmlns:a="http://schemas.openxmlformats.org/drawingml/2006/main" w="4763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98336D-76CF-460E-8792-4A4595E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29075"/>
            <a:ext cx="866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实验任务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与条件配置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B22B9C-354C-4D60-B700-2D39030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00475"/>
            <a:ext cx="962025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B93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366D21-276E-4829-831A-760CC3EA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463" y="384810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2B93E8"/>
          </a:solidFill>
          <a:ln xmlns:a="http://schemas.openxmlformats.org/drawingml/2006/main" w="4763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3E1AC0-0965-4A47-B546-7FF3151C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029075"/>
            <a:ext cx="866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与模型运行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7B62DE-1185-44B4-B47B-3658EAB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00475"/>
            <a:ext cx="962025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B93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147F93-D71D-413C-B28A-521EA41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384810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2B93E8"/>
          </a:solidFill>
          <a:ln xmlns:a="http://schemas.openxmlformats.org/drawingml/2006/main" w="4763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0701F7-B5E2-4F1D-8276-DDBAF99B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29075"/>
            <a:ext cx="866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过程监测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与结果计算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701B96-EDE2-4A18-8A3B-3D467E3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00475"/>
            <a:ext cx="962025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B93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A9E903-5C01-44FA-B74B-B0311E02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84810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2B93E8"/>
          </a:solidFill>
          <a:ln xmlns:a="http://schemas.openxmlformats.org/drawingml/2006/main" w="4763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F3C91E-2CE9-43CB-831E-99887CD1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29075"/>
            <a:ext cx="866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对照分析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与误差诊断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3FF149-DDFA-40B8-9F34-5F9EB10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00475"/>
            <a:ext cx="962025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B93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151185-6072-494E-8795-43AA0E5D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3848100"/>
            <a:ext cx="2667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2B93E8"/>
          </a:solidFill>
          <a:ln xmlns:a="http://schemas.openxmlformats.org/drawingml/2006/main" w="4763">
            <a:solidFill>
              <a:srgbClr val="2B93E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E0A389-329B-48EF-AEFA-8DA0BEC2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9075"/>
            <a:ext cx="866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结论解释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与方案修订</a:t>
            </a:r>
          </a:p>
        </p:txBody>
      </p:sp>
      <p:cxnSp>
        <p:nvCxnSpPr>
          <p:cNvPr id="179" name=""/>
          <p:cNvCxnSpPr>
            <a:stCxn xmlns:a="http://schemas.openxmlformats.org/drawingml/2006/main" id="57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781550" y="4105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C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0" name=""/>
          <p:cNvCxnSpPr>
            <a:stCxn xmlns:a="http://schemas.openxmlformats.org/drawingml/2006/main" id="60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5838825" y="4105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C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1" name=""/>
          <p:cNvCxnSpPr>
            <a:stCxn xmlns:a="http://schemas.openxmlformats.org/drawingml/2006/main" id="63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6896100" y="4105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C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2" name=""/>
          <p:cNvCxnSpPr>
            <a:stCxn xmlns:a="http://schemas.openxmlformats.org/drawingml/2006/main" id="66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7953375" y="4105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C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7743A5C-066C-404F-B0E4-90265083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29150"/>
            <a:ext cx="2381250" cy="63817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3335">
            <a:solidFill>
              <a:srgbClr val="AAB3B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8C8A862-F89B-456A-9D34-1D270697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767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理论与数据支撑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3B15CF-0886-417A-BDD2-471256B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24425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957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rPr>
              <a:t>领域知识、基准数据、实验条件、约束规则和评价标准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FC3EF3-B9D6-4154-9A5F-D8C75806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2381250" cy="63817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3335">
            <a:solidFill>
              <a:srgbClr val="AAB3B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ABD62C-459A-4A7C-88B0-9BCA5380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767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模型与实验工具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B301CA-2AF0-4111-A8AA-093C01DE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24425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957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5C6673"/>
                </a:solidFill>
                <a:latin typeface="微软雅黑"/>
                <a:ea typeface="微软雅黑"/>
                <a:cs typeface="微软雅黑"/>
              </a:rPr>
              <a:t>统计分析、机理模型、学习算法、仿真平台和可视化工具</a:t>
            </a:r>
          </a:p>
        </p:txBody>
      </p:sp>
      <p:cxnSp>
        <p:nvCxnSpPr>
          <p:cNvPr id="189" name=""/>
          <p:cNvCxnSpPr>
            <a:stCxn xmlns:a="http://schemas.openxmlformats.org/drawingml/2006/main" id="76" idx="0"/>
            <a:endCxn xmlns:a="http://schemas.openxmlformats.org/drawingml/2006/main" id="60" idx="2"/>
          </p:cNvCxnSpPr>
          <p:nvPr/>
        </p:nvCxnSpPr>
        <p:spPr>
          <a:xfrm xmlns:a="http://schemas.openxmlformats.org/drawingml/2006/main" flipV="1">
            <a:off x="5019675" y="4410075"/>
            <a:ext cx="338138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AAB3B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0" name=""/>
          <p:cNvCxnSpPr>
            <a:stCxn xmlns:a="http://schemas.openxmlformats.org/drawingml/2006/main" id="79" idx="0"/>
            <a:endCxn xmlns:a="http://schemas.openxmlformats.org/drawingml/2006/main" id="63" idx="2"/>
          </p:cNvCxnSpPr>
          <p:nvPr/>
        </p:nvCxnSpPr>
        <p:spPr>
          <a:xfrm xmlns:a="http://schemas.openxmlformats.org/drawingml/2006/main" flipH="1" flipV="1">
            <a:off x="6415088" y="4410075"/>
            <a:ext cx="1157288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AAB3B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1" name=""/>
          <p:cNvCxnSpPr>
            <a:stCxn xmlns:a="http://schemas.openxmlformats.org/drawingml/2006/main" id="79" idx="0"/>
            <a:endCxn xmlns:a="http://schemas.openxmlformats.org/drawingml/2006/main" id="66" idx="2"/>
          </p:cNvCxnSpPr>
          <p:nvPr/>
        </p:nvCxnSpPr>
        <p:spPr>
          <a:xfrm xmlns:a="http://schemas.openxmlformats.org/drawingml/2006/main" flipH="1" flipV="1">
            <a:off x="7472363" y="4410075"/>
            <a:ext cx="100013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AAB3B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3BB20C7-3F75-455F-869F-50B331B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467350"/>
            <a:ext cx="49339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8F0"/>
          </a:solidFill>
          <a:ln xmlns:a="http://schemas.openxmlformats.org/drawingml/2006/main" w="11430">
            <a:solidFill>
              <a:srgbClr val="00A93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21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6B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6B2E"/>
                </a:solidFill>
                <a:latin typeface="微软雅黑"/>
                <a:ea typeface="微软雅黑"/>
                <a:cs typeface="微软雅黑"/>
              </a:rPr>
              <a:t>实验结果、失败案例和专家复核持续回流，修订模型、参数、假设与适用边界</a:t>
            </a:r>
          </a:p>
        </p:txBody>
      </p:sp>
      <p:cxnSp>
        <p:nvCxnSpPr>
          <p:cNvPr id="193" name=""/>
          <p:cNvCxnSpPr>
            <a:stCxn xmlns:a="http://schemas.openxmlformats.org/drawingml/2006/main" id="18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 flipV="1">
            <a:off x="2524125" y="4105275"/>
            <a:ext cx="129540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39A4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A50A04B-5505-44B2-B3E4-DFFEC03D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52625"/>
            <a:ext cx="2428875" cy="733425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DF8F0"/>
          </a:solidFill>
          <a:ln xmlns:a="http://schemas.openxmlformats.org/drawingml/2006/main" w="13335">
            <a:solidFill>
              <a:srgbClr val="00A93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5F9D6C4-6900-4660-8208-88FDFFB7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00250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93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936"/>
                </a:solidFill>
                <a:latin typeface="微软雅黑"/>
                <a:ea typeface="微软雅黑"/>
                <a:cs typeface="微软雅黑"/>
              </a:rPr>
              <a:t>理论与方法成果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F31DC8-8F7D-485B-A200-548F144A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47900"/>
            <a:ext cx="2276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形成可解释的模型、算法、机制假设和技术方法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5C9CB7D-9377-4318-ADC0-1793EDC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2428875" cy="733425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DF8F0"/>
          </a:solidFill>
          <a:ln xmlns:a="http://schemas.openxmlformats.org/drawingml/2006/main" w="13335">
            <a:solidFill>
              <a:srgbClr val="00A93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569A1AC-EAD6-4143-AF5C-C517F5A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67025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93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936"/>
                </a:solidFill>
                <a:latin typeface="微软雅黑"/>
                <a:ea typeface="微软雅黑"/>
                <a:cs typeface="微软雅黑"/>
              </a:rPr>
              <a:t>系统与数据成果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5C1DF15-2F46-4475-A374-D76F7726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14675"/>
            <a:ext cx="2276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形成原型系统、数据集、工具链和可复现实验环境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F0CE97-656C-47D4-A475-E2C5EE74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86175"/>
            <a:ext cx="2428875" cy="733425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DF8F0"/>
          </a:solidFill>
          <a:ln xmlns:a="http://schemas.openxmlformats.org/drawingml/2006/main" w="13335">
            <a:solidFill>
              <a:srgbClr val="00A93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0BECF60-14BE-4E7C-9701-963C7F10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733800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93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936"/>
                </a:solidFill>
                <a:latin typeface="微软雅黑"/>
                <a:ea typeface="微软雅黑"/>
                <a:cs typeface="微软雅黑"/>
              </a:rPr>
              <a:t>评价指标与结论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A4C8ECF-C206-451B-AB5F-345E5BA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81450"/>
            <a:ext cx="2276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给出基线对比、误差分析、适用条件和证据链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0BDA7E-31BB-4065-8753-C6928930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05350"/>
            <a:ext cx="2428875" cy="1143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3335">
            <a:solidFill>
              <a:srgbClr val="F39A4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4AD88C7-C8A3-4A8F-ACBC-1B23E8E3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752975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41414"/>
                </a:solidFill>
                <a:latin typeface="微软雅黑"/>
                <a:ea typeface="微软雅黑"/>
                <a:cs typeface="微软雅黑"/>
              </a:rPr>
              <a:t>迭代验证与应用反馈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7CEA207-A88D-428F-9781-A27AF3F1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000625"/>
            <a:ext cx="2276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080B12"/>
                </a:solidFill>
                <a:latin typeface="微软雅黑"/>
                <a:ea typeface="微软雅黑"/>
                <a:cs typeface="微软雅黑"/>
              </a:rPr>
              <a:t>通过对照实验、消融分析、场景测试和专家评审验证成果，并将结果回流核心研究机制</a:t>
            </a:r>
          </a:p>
        </p:txBody>
      </p:sp>
      <p:cxnSp>
        <p:nvCxnSpPr>
          <p:cNvPr id="206" name=""/>
          <p:cNvCxnSpPr>
            <a:stCxn xmlns:a="http://schemas.openxmlformats.org/drawingml/2006/main" id="69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 flipV="1">
            <a:off x="9010650" y="2319338"/>
            <a:ext cx="466725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39A4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07" name=""/>
          <p:cNvCxnSpPr>
            <a:stCxn xmlns:a="http://schemas.openxmlformats.org/drawingml/2006/main" id="6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 flipV="1">
            <a:off x="9010650" y="3186113"/>
            <a:ext cx="466725" cy="919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F39A4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8" name=""/>
          <p:cNvCxnSpPr>
            <a:stCxn xmlns:a="http://schemas.openxmlformats.org/drawingml/2006/main" id="69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 flipV="1">
            <a:off x="9010650" y="4052888"/>
            <a:ext cx="466725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F39A4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9" name=""/>
          <p:cNvCxnSpPr>
            <a:stCxn xmlns:a="http://schemas.openxmlformats.org/drawingml/2006/main" id="87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10691813" y="2686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A93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0" name=""/>
          <p:cNvCxnSpPr>
            <a:stCxn xmlns:a="http://schemas.openxmlformats.org/drawingml/2006/main" id="90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691813" y="35528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A93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93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10691813" y="44196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A93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2" name=""/>
          <p:cNvCxnSpPr>
            <a:stCxn xmlns:a="http://schemas.openxmlformats.org/drawingml/2006/main" id="96" idx="1"/>
            <a:endCxn xmlns:a="http://schemas.openxmlformats.org/drawingml/2006/main" id="85" idx="3"/>
          </p:cNvCxnSpPr>
          <p:nvPr/>
        </p:nvCxnSpPr>
        <p:spPr>
          <a:xfrm xmlns:a="http://schemas.openxmlformats.org/drawingml/2006/main" flipH="1">
            <a:off x="8763000" y="5276850"/>
            <a:ext cx="714375" cy="395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0A936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3683F64-821F-41D4-A05D-F9A21161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6B778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46782C-D6F0-4B03-9ED9-B8491346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9825"/>
            <a:ext cx="1133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F4A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F4A56"/>
                </a:solidFill>
                <a:latin typeface="微软雅黑"/>
                <a:ea typeface="微软雅黑"/>
                <a:cs typeface="微软雅黑"/>
              </a:rPr>
              <a:t>全过程约束：术语一致、数据可追溯、接口明确、指标可验收、结果可复现、结论保留适用边界</a:t>
            </a:r>
          </a:p>
        </p:txBody>
      </p:sp>
    </p:spTree>
    <p:extLst>
      <p:ext uri="{BB962C8B-B14F-4D97-AF65-F5344CB8AC3E}">
        <p14:creationId xmlns:p14="http://schemas.microsoft.com/office/powerpoint/2010/main" val="1418672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2026-09-10T03:05:28.4910000Z</dcterms:created>
  <dcterms:modified xsi:type="dcterms:W3CDTF">2026-09-10T03:05:28.4910000Z</dcterms:modified>
</coreProperties>
</file>